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6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D5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Generated portrait disc"/>
          <p:cNvSpPr/>
          <p:nvPr/>
        </p:nvSpPr>
        <p:spPr>
          <a:xfrm>
            <a:off x="6629400" y="594360"/>
            <a:ext cx="5212080" cy="5212080"/>
          </a:xfrm>
          <a:prstGeom prst="ellipse">
            <a:avLst/>
          </a:prstGeom>
          <a:solidFill>
            <a:srgbClr val="FF4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Generated subtitle footer"/>
          <p:cNvSpPr/>
          <p:nvPr/>
        </p:nvSpPr>
        <p:spPr>
          <a:xfrm>
            <a:off x="0" y="5989320"/>
            <a:ext cx="12191999" cy="868680"/>
          </a:xfrm>
          <a:prstGeom prst="rect">
            <a:avLst/>
          </a:prstGeom>
          <a:solidFill>
            <a:srgbClr val="080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Generated top accent"/>
          <p:cNvSpPr/>
          <p:nvPr/>
        </p:nvSpPr>
        <p:spPr>
          <a:xfrm>
            <a:off x="603504" y="640080"/>
            <a:ext cx="749808" cy="146304"/>
          </a:xfrm>
          <a:prstGeom prst="rect">
            <a:avLst/>
          </a:prstGeom>
          <a:solidFill>
            <a:srgbClr val="080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Source text 0"/>
          <p:cNvSpPr txBox="1"/>
          <p:nvPr/>
        </p:nvSpPr>
        <p:spPr>
          <a:xfrm>
            <a:off x="594360" y="1325880"/>
            <a:ext cx="5943600" cy="434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0" b="0">
                <a:solidFill>
                  <a:srgbClr val="08090A"/>
                </a:solidFill>
                <a:latin typeface="Odibee Sans"/>
              </a:rPr>
              <a:t>PITCH DECK</a:t>
            </a:r>
          </a:p>
        </p:txBody>
      </p:sp>
      <p:sp>
        <p:nvSpPr>
          <p:cNvPr id="6" name="Source text 1"/>
          <p:cNvSpPr txBox="1"/>
          <p:nvPr/>
        </p:nvSpPr>
        <p:spPr>
          <a:xfrm>
            <a:off x="640080" y="6291072"/>
            <a:ext cx="54864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5D547"/>
                </a:solidFill>
                <a:latin typeface="Roboto"/>
              </a:rPr>
              <a:t>VIDEO PRESENTATION</a:t>
            </a:r>
          </a:p>
        </p:txBody>
      </p:sp>
      <p:pic>
        <p:nvPicPr>
          <p:cNvPr id="7" name="Source image 0: 9e51bc563568e4e5.png" descr="9e51bc563568e4e5.png"/>
          <p:cNvPicPr>
            <a:picLocks noChangeAspect="1"/>
          </p:cNvPicPr>
          <p:nvPr/>
        </p:nvPicPr>
        <p:blipFill>
          <a:blip r:embed="rId2"/>
          <a:srcRect l="11714" t="7214" r="25643"/>
          <a:stretch>
            <a:fillRect/>
          </a:stretch>
        </p:blipFill>
        <p:spPr>
          <a:xfrm>
            <a:off x="7243346" y="685800"/>
            <a:ext cx="4167066" cy="617219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EB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Generated portrait panel"/>
          <p:cNvSpPr/>
          <p:nvPr/>
        </p:nvSpPr>
        <p:spPr>
          <a:xfrm>
            <a:off x="7818120" y="0"/>
            <a:ext cx="4373879" cy="6858000"/>
          </a:xfrm>
          <a:prstGeom prst="rect">
            <a:avLst/>
          </a:prstGeom>
          <a:solidFill>
            <a:srgbClr val="4B88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Generated portrait halo"/>
          <p:cNvSpPr/>
          <p:nvPr/>
        </p:nvSpPr>
        <p:spPr>
          <a:xfrm>
            <a:off x="8275320" y="1371600"/>
            <a:ext cx="3520440" cy="3520440"/>
          </a:xfrm>
          <a:prstGeom prst="ellipse">
            <a:avLst/>
          </a:prstGeom>
          <a:solidFill>
            <a:srgbClr val="F5D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ource text 6"/>
          <p:cNvSpPr txBox="1"/>
          <p:nvPr/>
        </p:nvSpPr>
        <p:spPr>
          <a:xfrm>
            <a:off x="594360" y="502920"/>
            <a:ext cx="6766560" cy="1207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5100" b="0">
                <a:solidFill>
                  <a:srgbClr val="08090A"/>
                </a:solidFill>
                <a:latin typeface="Odibee Sans"/>
              </a:rPr>
              <a:t>WRITE YOUR TOPIC OR IDEA</a:t>
            </a:r>
          </a:p>
        </p:txBody>
      </p:sp>
      <p:sp>
        <p:nvSpPr>
          <p:cNvPr id="5" name="Generated point 1 square"/>
          <p:cNvSpPr/>
          <p:nvPr/>
        </p:nvSpPr>
        <p:spPr>
          <a:xfrm>
            <a:off x="612648" y="2066544"/>
            <a:ext cx="201168" cy="201168"/>
          </a:xfrm>
          <a:prstGeom prst="rect">
            <a:avLst/>
          </a:prstGeom>
          <a:solidFill>
            <a:srgbClr val="FF4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ource text 0"/>
          <p:cNvSpPr txBox="1"/>
          <p:nvPr/>
        </p:nvSpPr>
        <p:spPr>
          <a:xfrm>
            <a:off x="1033271" y="2011680"/>
            <a:ext cx="61722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8090A"/>
                </a:solidFill>
                <a:latin typeface="Roboto"/>
              </a:rPr>
              <a:t>ADD A MAIN POINT</a:t>
            </a:r>
          </a:p>
        </p:txBody>
      </p:sp>
      <p:sp>
        <p:nvSpPr>
          <p:cNvPr id="7" name="Source text 3"/>
          <p:cNvSpPr txBox="1"/>
          <p:nvPr/>
        </p:nvSpPr>
        <p:spPr>
          <a:xfrm>
            <a:off x="1033271" y="2542032"/>
            <a:ext cx="5760720" cy="7589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08090A"/>
                </a:solidFill>
                <a:latin typeface="Roboto"/>
              </a:rPr>
              <a:t>Briefly elaborate on what you want to discuss. </a:t>
            </a:r>
          </a:p>
        </p:txBody>
      </p:sp>
      <p:sp>
        <p:nvSpPr>
          <p:cNvPr id="8" name="Generated point 2 square"/>
          <p:cNvSpPr/>
          <p:nvPr/>
        </p:nvSpPr>
        <p:spPr>
          <a:xfrm>
            <a:off x="612648" y="3575304"/>
            <a:ext cx="201168" cy="201168"/>
          </a:xfrm>
          <a:prstGeom prst="rect">
            <a:avLst/>
          </a:prstGeom>
          <a:solidFill>
            <a:srgbClr val="F5D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ource text 1"/>
          <p:cNvSpPr txBox="1"/>
          <p:nvPr/>
        </p:nvSpPr>
        <p:spPr>
          <a:xfrm>
            <a:off x="1033271" y="3520440"/>
            <a:ext cx="61722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8090A"/>
                </a:solidFill>
                <a:latin typeface="Roboto"/>
              </a:rPr>
              <a:t>ADD A MAIN POINT</a:t>
            </a:r>
          </a:p>
        </p:txBody>
      </p:sp>
      <p:sp>
        <p:nvSpPr>
          <p:cNvPr id="10" name="Source text 4"/>
          <p:cNvSpPr txBox="1"/>
          <p:nvPr/>
        </p:nvSpPr>
        <p:spPr>
          <a:xfrm>
            <a:off x="1033271" y="4050791"/>
            <a:ext cx="5760720" cy="7589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08090A"/>
                </a:solidFill>
                <a:latin typeface="Roboto"/>
              </a:rPr>
              <a:t>Briefly elaborate on what you want to discuss. </a:t>
            </a:r>
          </a:p>
        </p:txBody>
      </p:sp>
      <p:sp>
        <p:nvSpPr>
          <p:cNvPr id="11" name="Generated point 3 square"/>
          <p:cNvSpPr/>
          <p:nvPr/>
        </p:nvSpPr>
        <p:spPr>
          <a:xfrm>
            <a:off x="612648" y="5084064"/>
            <a:ext cx="201168" cy="201168"/>
          </a:xfrm>
          <a:prstGeom prst="rect">
            <a:avLst/>
          </a:prstGeom>
          <a:solidFill>
            <a:srgbClr val="4B88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ource text 2"/>
          <p:cNvSpPr txBox="1"/>
          <p:nvPr/>
        </p:nvSpPr>
        <p:spPr>
          <a:xfrm>
            <a:off x="1033271" y="5029200"/>
            <a:ext cx="61722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8090A"/>
                </a:solidFill>
                <a:latin typeface="Roboto"/>
              </a:rPr>
              <a:t>ADD A MAIN POINT</a:t>
            </a:r>
          </a:p>
        </p:txBody>
      </p:sp>
      <p:sp>
        <p:nvSpPr>
          <p:cNvPr id="13" name="Source text 5"/>
          <p:cNvSpPr txBox="1"/>
          <p:nvPr/>
        </p:nvSpPr>
        <p:spPr>
          <a:xfrm>
            <a:off x="1033271" y="5559552"/>
            <a:ext cx="5760720" cy="7589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08090A"/>
                </a:solidFill>
                <a:latin typeface="Roboto"/>
              </a:rPr>
              <a:t>Briefly elaborate on what you want to discuss. </a:t>
            </a:r>
          </a:p>
        </p:txBody>
      </p:sp>
      <p:pic>
        <p:nvPicPr>
          <p:cNvPr id="14" name="Source image 0: 61b825e5849a1797.png" descr="61b825e5849a1797.png"/>
          <p:cNvPicPr>
            <a:picLocks noChangeAspect="1"/>
          </p:cNvPicPr>
          <p:nvPr/>
        </p:nvPicPr>
        <p:blipFill>
          <a:blip r:embed="rId2"/>
          <a:srcRect l="18182" t="9561" r="18472"/>
          <a:stretch>
            <a:fillRect/>
          </a:stretch>
        </p:blipFill>
        <p:spPr>
          <a:xfrm>
            <a:off x="8620832" y="1005839"/>
            <a:ext cx="2737974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9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ource text 6"/>
          <p:cNvSpPr txBox="1"/>
          <p:nvPr/>
        </p:nvSpPr>
        <p:spPr>
          <a:xfrm>
            <a:off x="594360" y="457200"/>
            <a:ext cx="7315200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6500" b="0">
                <a:solidFill>
                  <a:srgbClr val="FF4F4F"/>
                </a:solidFill>
                <a:latin typeface="Odibee Sans"/>
              </a:rPr>
              <a:t>PROBLEMS</a:t>
            </a:r>
          </a:p>
        </p:txBody>
      </p:sp>
      <p:sp>
        <p:nvSpPr>
          <p:cNvPr id="3" name="Generated seated portrait disc"/>
          <p:cNvSpPr/>
          <p:nvPr/>
        </p:nvSpPr>
        <p:spPr>
          <a:xfrm>
            <a:off x="7342631" y="2121408"/>
            <a:ext cx="4297680" cy="4297680"/>
          </a:xfrm>
          <a:prstGeom prst="ellipse">
            <a:avLst/>
          </a:prstGeom>
          <a:solidFill>
            <a:srgbClr val="FF4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ource text 3"/>
          <p:cNvSpPr txBox="1"/>
          <p:nvPr/>
        </p:nvSpPr>
        <p:spPr>
          <a:xfrm>
            <a:off x="640080" y="1874519"/>
            <a:ext cx="6126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5D547"/>
                </a:solidFill>
                <a:latin typeface="Roboto"/>
              </a:rPr>
              <a:t>PROBLEM 1</a:t>
            </a:r>
          </a:p>
        </p:txBody>
      </p:sp>
      <p:sp>
        <p:nvSpPr>
          <p:cNvPr id="5" name="Source text 0"/>
          <p:cNvSpPr txBox="1"/>
          <p:nvPr/>
        </p:nvSpPr>
        <p:spPr>
          <a:xfrm>
            <a:off x="640080" y="2313432"/>
            <a:ext cx="60350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>
                <a:solidFill>
                  <a:srgbClr val="F7EBEC"/>
                </a:solidFill>
                <a:latin typeface="Roboto"/>
              </a:rPr>
              <a:t>Businesses Struggle with Outdated Methods</a:t>
            </a:r>
          </a:p>
        </p:txBody>
      </p:sp>
      <p:sp>
        <p:nvSpPr>
          <p:cNvPr id="6" name="Source text 4"/>
          <p:cNvSpPr txBox="1"/>
          <p:nvPr/>
        </p:nvSpPr>
        <p:spPr>
          <a:xfrm>
            <a:off x="640080" y="3401568"/>
            <a:ext cx="6126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5D547"/>
                </a:solidFill>
                <a:latin typeface="Roboto"/>
              </a:rPr>
              <a:t>PROBLEM 2</a:t>
            </a:r>
          </a:p>
        </p:txBody>
      </p:sp>
      <p:sp>
        <p:nvSpPr>
          <p:cNvPr id="7" name="Source text 1"/>
          <p:cNvSpPr txBox="1"/>
          <p:nvPr/>
        </p:nvSpPr>
        <p:spPr>
          <a:xfrm>
            <a:off x="640080" y="3840480"/>
            <a:ext cx="60350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>
                <a:solidFill>
                  <a:srgbClr val="F7EBEC"/>
                </a:solidFill>
                <a:latin typeface="Roboto"/>
              </a:rPr>
              <a:t>Inefficient Processes Hinder Growth and Profitability</a:t>
            </a:r>
          </a:p>
        </p:txBody>
      </p:sp>
      <p:sp>
        <p:nvSpPr>
          <p:cNvPr id="8" name="Source text 5"/>
          <p:cNvSpPr txBox="1"/>
          <p:nvPr/>
        </p:nvSpPr>
        <p:spPr>
          <a:xfrm>
            <a:off x="640080" y="4928616"/>
            <a:ext cx="6126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5D547"/>
                </a:solidFill>
                <a:latin typeface="Roboto"/>
              </a:rPr>
              <a:t>PROBLEM 3</a:t>
            </a:r>
          </a:p>
        </p:txBody>
      </p:sp>
      <p:sp>
        <p:nvSpPr>
          <p:cNvPr id="9" name="Source text 2"/>
          <p:cNvSpPr txBox="1"/>
          <p:nvPr/>
        </p:nvSpPr>
        <p:spPr>
          <a:xfrm>
            <a:off x="640080" y="5367527"/>
            <a:ext cx="60350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>
                <a:solidFill>
                  <a:srgbClr val="F7EBEC"/>
                </a:solidFill>
                <a:latin typeface="Roboto"/>
              </a:rPr>
              <a:t>Lack of access to affordable products</a:t>
            </a:r>
          </a:p>
        </p:txBody>
      </p:sp>
      <p:pic>
        <p:nvPicPr>
          <p:cNvPr id="10" name="Source image 0: 39279bc49adb1dc2.png" descr="39279bc49adb1dc2.png"/>
          <p:cNvPicPr>
            <a:picLocks noChangeAspect="1"/>
          </p:cNvPicPr>
          <p:nvPr/>
        </p:nvPicPr>
        <p:blipFill>
          <a:blip r:embed="rId2"/>
          <a:srcRect t="21281"/>
          <a:stretch>
            <a:fillRect/>
          </a:stretch>
        </p:blipFill>
        <p:spPr>
          <a:xfrm>
            <a:off x="7273641" y="1600200"/>
            <a:ext cx="4453950" cy="525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9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ource text 0"/>
          <p:cNvSpPr txBox="1"/>
          <p:nvPr/>
        </p:nvSpPr>
        <p:spPr>
          <a:xfrm>
            <a:off x="594360" y="365760"/>
            <a:ext cx="331927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700" b="0">
                <a:solidFill>
                  <a:srgbClr val="F5D547"/>
                </a:solidFill>
                <a:latin typeface="Odibee Sans"/>
              </a:rPr>
              <a:t>2010</a:t>
            </a:r>
          </a:p>
        </p:txBody>
      </p:sp>
      <p:pic>
        <p:nvPicPr>
          <p:cNvPr id="3" name="Source image 0: 232166f5c66cf321.jpg" descr="232166f5c66cf321.jpg"/>
          <p:cNvPicPr>
            <a:picLocks noChangeAspect="1"/>
          </p:cNvPicPr>
          <p:nvPr/>
        </p:nvPicPr>
        <p:blipFill>
          <a:blip r:embed="rId2"/>
          <a:srcRect l="7039" r="7039"/>
          <a:stretch>
            <a:fillRect/>
          </a:stretch>
        </p:blipFill>
        <p:spPr>
          <a:xfrm>
            <a:off x="594360" y="1664208"/>
            <a:ext cx="3319272" cy="2578608"/>
          </a:xfrm>
          <a:prstGeom prst="rect">
            <a:avLst/>
          </a:prstGeom>
        </p:spPr>
      </p:pic>
      <p:sp>
        <p:nvSpPr>
          <p:cNvPr id="4" name="Generated milestone 1 accent"/>
          <p:cNvSpPr/>
          <p:nvPr/>
        </p:nvSpPr>
        <p:spPr>
          <a:xfrm>
            <a:off x="594360" y="4416552"/>
            <a:ext cx="621792" cy="91440"/>
          </a:xfrm>
          <a:prstGeom prst="rect">
            <a:avLst/>
          </a:prstGeom>
          <a:solidFill>
            <a:srgbClr val="FF4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Source text 3"/>
          <p:cNvSpPr txBox="1"/>
          <p:nvPr/>
        </p:nvSpPr>
        <p:spPr>
          <a:xfrm>
            <a:off x="594360" y="4718304"/>
            <a:ext cx="3319272" cy="1682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F7EBEC"/>
                </a:solidFill>
                <a:latin typeface="Roboto"/>
              </a:rPr>
              <a:t>Finalizing branding guidelines and developing marketing strategy.</a:t>
            </a:r>
          </a:p>
        </p:txBody>
      </p:sp>
      <p:sp>
        <p:nvSpPr>
          <p:cNvPr id="6" name="Source text 1"/>
          <p:cNvSpPr txBox="1"/>
          <p:nvPr/>
        </p:nvSpPr>
        <p:spPr>
          <a:xfrm>
            <a:off x="4434840" y="365760"/>
            <a:ext cx="331927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700" b="0">
                <a:solidFill>
                  <a:srgbClr val="F5D547"/>
                </a:solidFill>
                <a:latin typeface="Odibee Sans"/>
              </a:rPr>
              <a:t>2020</a:t>
            </a:r>
          </a:p>
        </p:txBody>
      </p:sp>
      <p:pic>
        <p:nvPicPr>
          <p:cNvPr id="7" name="Source image 1: 95b0530b84cf36e8.jpg" descr="95b0530b84cf36e8.jpg"/>
          <p:cNvPicPr>
            <a:picLocks noChangeAspect="1"/>
          </p:cNvPicPr>
          <p:nvPr/>
        </p:nvPicPr>
        <p:blipFill>
          <a:blip r:embed="rId3"/>
          <a:srcRect t="11157" b="11157"/>
          <a:stretch>
            <a:fillRect/>
          </a:stretch>
        </p:blipFill>
        <p:spPr>
          <a:xfrm>
            <a:off x="4434840" y="1664208"/>
            <a:ext cx="3319272" cy="2578608"/>
          </a:xfrm>
          <a:prstGeom prst="rect">
            <a:avLst/>
          </a:prstGeom>
        </p:spPr>
      </p:pic>
      <p:sp>
        <p:nvSpPr>
          <p:cNvPr id="8" name="Generated milestone 2 accent"/>
          <p:cNvSpPr/>
          <p:nvPr/>
        </p:nvSpPr>
        <p:spPr>
          <a:xfrm>
            <a:off x="4434840" y="4416552"/>
            <a:ext cx="621792" cy="91440"/>
          </a:xfrm>
          <a:prstGeom prst="rect">
            <a:avLst/>
          </a:prstGeom>
          <a:solidFill>
            <a:srgbClr val="4B88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ource text 4"/>
          <p:cNvSpPr txBox="1"/>
          <p:nvPr/>
        </p:nvSpPr>
        <p:spPr>
          <a:xfrm>
            <a:off x="4434840" y="4718304"/>
            <a:ext cx="3319272" cy="1682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F7EBEC"/>
                </a:solidFill>
                <a:latin typeface="Roboto"/>
              </a:rPr>
              <a:t>Launching the first product and reaching 1 million customers.</a:t>
            </a:r>
          </a:p>
        </p:txBody>
      </p:sp>
      <p:sp>
        <p:nvSpPr>
          <p:cNvPr id="10" name="Source text 2"/>
          <p:cNvSpPr txBox="1"/>
          <p:nvPr/>
        </p:nvSpPr>
        <p:spPr>
          <a:xfrm>
            <a:off x="8275320" y="365760"/>
            <a:ext cx="331927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700" b="0">
                <a:solidFill>
                  <a:srgbClr val="F5D547"/>
                </a:solidFill>
                <a:latin typeface="Odibee Sans"/>
              </a:rPr>
              <a:t>2030</a:t>
            </a:r>
          </a:p>
        </p:txBody>
      </p:sp>
      <p:pic>
        <p:nvPicPr>
          <p:cNvPr id="11" name="Source image 2: ff6fbc4058dac1de.jpg" descr="ff6fbc4058dac1de.jpg"/>
          <p:cNvPicPr>
            <a:picLocks noChangeAspect="1"/>
          </p:cNvPicPr>
          <p:nvPr/>
        </p:nvPicPr>
        <p:blipFill>
          <a:blip r:embed="rId4"/>
          <a:srcRect l="7092" r="7092"/>
          <a:stretch>
            <a:fillRect/>
          </a:stretch>
        </p:blipFill>
        <p:spPr>
          <a:xfrm>
            <a:off x="8275320" y="1664208"/>
            <a:ext cx="3319272" cy="2578608"/>
          </a:xfrm>
          <a:prstGeom prst="rect">
            <a:avLst/>
          </a:prstGeom>
        </p:spPr>
      </p:pic>
      <p:sp>
        <p:nvSpPr>
          <p:cNvPr id="12" name="Generated milestone 3 accent"/>
          <p:cNvSpPr/>
          <p:nvPr/>
        </p:nvSpPr>
        <p:spPr>
          <a:xfrm>
            <a:off x="8275320" y="4416552"/>
            <a:ext cx="621792" cy="91440"/>
          </a:xfrm>
          <a:prstGeom prst="rect">
            <a:avLst/>
          </a:prstGeom>
          <a:solidFill>
            <a:srgbClr val="F5D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ource text 5"/>
          <p:cNvSpPr txBox="1"/>
          <p:nvPr/>
        </p:nvSpPr>
        <p:spPr>
          <a:xfrm>
            <a:off x="8275320" y="4718304"/>
            <a:ext cx="3319272" cy="1682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F7EBEC"/>
                </a:solidFill>
                <a:latin typeface="Roboto"/>
              </a:rPr>
              <a:t>Participated in major industry conference and hosted exclusive product launch event.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EB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ource text 3"/>
          <p:cNvSpPr txBox="1"/>
          <p:nvPr/>
        </p:nvSpPr>
        <p:spPr>
          <a:xfrm>
            <a:off x="594360" y="566928"/>
            <a:ext cx="3822191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6400" b="0">
                <a:solidFill>
                  <a:srgbClr val="08090A"/>
                </a:solidFill>
                <a:latin typeface="Odibee Sans"/>
              </a:rPr>
              <a:t>TEAM MEMBERS</a:t>
            </a:r>
          </a:p>
        </p:txBody>
      </p:sp>
      <p:sp>
        <p:nvSpPr>
          <p:cNvPr id="3" name="Source text 1"/>
          <p:cNvSpPr txBox="1"/>
          <p:nvPr/>
        </p:nvSpPr>
        <p:spPr>
          <a:xfrm>
            <a:off x="612648" y="2788920"/>
            <a:ext cx="3703320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8090A"/>
                </a:solidFill>
                <a:latin typeface="Roboto"/>
              </a:rPr>
              <a:t>Our team consists of Aaron Loeb who is our CEO and has over 20 years of experience in the industry, and Francois Mercer who leads our development team and has a PhD in Computer Science</a:t>
            </a:r>
          </a:p>
        </p:txBody>
      </p:sp>
      <p:sp>
        <p:nvSpPr>
          <p:cNvPr id="4" name="Generated Aaron portrait panel"/>
          <p:cNvSpPr/>
          <p:nvPr/>
        </p:nvSpPr>
        <p:spPr>
          <a:xfrm>
            <a:off x="4754880" y="1371600"/>
            <a:ext cx="3246120" cy="4434840"/>
          </a:xfrm>
          <a:prstGeom prst="rect">
            <a:avLst/>
          </a:prstGeom>
          <a:solidFill>
            <a:srgbClr val="F5D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Generated Sarah portrait panel"/>
          <p:cNvSpPr/>
          <p:nvPr/>
        </p:nvSpPr>
        <p:spPr>
          <a:xfrm>
            <a:off x="8302752" y="1371600"/>
            <a:ext cx="3246120" cy="4434840"/>
          </a:xfrm>
          <a:prstGeom prst="rect">
            <a:avLst/>
          </a:prstGeom>
          <a:solidFill>
            <a:srgbClr val="4B88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Generated team upper accent"/>
          <p:cNvSpPr/>
          <p:nvPr/>
        </p:nvSpPr>
        <p:spPr>
          <a:xfrm>
            <a:off x="10908792" y="621792"/>
            <a:ext cx="640080" cy="164592"/>
          </a:xfrm>
          <a:prstGeom prst="rect">
            <a:avLst/>
          </a:prstGeom>
          <a:solidFill>
            <a:srgbClr val="FF4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Source image 1: b2b257f67bc77993.png" descr="b2b257f67bc77993.png"/>
          <p:cNvPicPr>
            <a:picLocks noChangeAspect="1"/>
          </p:cNvPicPr>
          <p:nvPr/>
        </p:nvPicPr>
        <p:blipFill>
          <a:blip r:embed="rId2"/>
          <a:srcRect l="2866" t="8626" r="3408"/>
          <a:stretch>
            <a:fillRect/>
          </a:stretch>
        </p:blipFill>
        <p:spPr>
          <a:xfrm>
            <a:off x="4911255" y="1517904"/>
            <a:ext cx="2933368" cy="4288536"/>
          </a:xfrm>
          <a:prstGeom prst="rect">
            <a:avLst/>
          </a:prstGeom>
        </p:spPr>
      </p:pic>
      <p:pic>
        <p:nvPicPr>
          <p:cNvPr id="8" name="Source image 0: 955a3b3b03eee351.png" descr="955a3b3b03eee351.png"/>
          <p:cNvPicPr>
            <a:picLocks noChangeAspect="1"/>
          </p:cNvPicPr>
          <p:nvPr/>
        </p:nvPicPr>
        <p:blipFill>
          <a:blip r:embed="rId3"/>
          <a:srcRect t="11750" r="4066"/>
          <a:stretch>
            <a:fillRect/>
          </a:stretch>
        </p:blipFill>
        <p:spPr>
          <a:xfrm>
            <a:off x="8371335" y="1517904"/>
            <a:ext cx="3108953" cy="4288536"/>
          </a:xfrm>
          <a:prstGeom prst="rect">
            <a:avLst/>
          </a:prstGeom>
        </p:spPr>
      </p:pic>
      <p:sp>
        <p:nvSpPr>
          <p:cNvPr id="9" name="Source text 0"/>
          <p:cNvSpPr txBox="1"/>
          <p:nvPr/>
        </p:nvSpPr>
        <p:spPr>
          <a:xfrm>
            <a:off x="4754880" y="6071616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8090A"/>
                </a:solidFill>
                <a:latin typeface="Roboto"/>
              </a:rPr>
              <a:t>Aaron Loeb - CEO</a:t>
            </a:r>
          </a:p>
        </p:txBody>
      </p:sp>
      <p:sp>
        <p:nvSpPr>
          <p:cNvPr id="10" name="Source text 2"/>
          <p:cNvSpPr txBox="1"/>
          <p:nvPr/>
        </p:nvSpPr>
        <p:spPr>
          <a:xfrm>
            <a:off x="8302752" y="6071616"/>
            <a:ext cx="3337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8090A"/>
                </a:solidFill>
                <a:latin typeface="Roboto"/>
              </a:rPr>
              <a:t>Sarah Mercer - CMO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